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4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D13F8-510B-4486-9A90-B69D72CB23CB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212E1-434E-40CC-ACB2-02FA44E2444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212E1-434E-40CC-ACB2-02FA44E2444B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143249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1643062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1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786049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1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215205" y="274639"/>
            <a:ext cx="1471595" cy="6011882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2010/9/19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audio" Target="file:///D:\&#33457;&#33609;&#27966;\&#33457;&#33609;&#27966;.MP3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2.wav"/><Relationship Id="rId1" Type="http://schemas.openxmlformats.org/officeDocument/2006/relationships/tags" Target="../tags/tag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4.wav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7" Type="http://schemas.openxmlformats.org/officeDocument/2006/relationships/image" Target="../media/image7.png"/><Relationship Id="rId2" Type="http://schemas.openxmlformats.org/officeDocument/2006/relationships/audio" Target="file:///D:\&#33457;&#33609;&#27966;\&#32232;&#20462;&#22294;&#29255;\&#23396;&#25402;&#33457;&#30701;.MP3" TargetMode="Externa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7" Type="http://schemas.openxmlformats.org/officeDocument/2006/relationships/image" Target="../media/image7.png"/><Relationship Id="rId2" Type="http://schemas.openxmlformats.org/officeDocument/2006/relationships/audio" Target="file:///D:\&#33457;&#33609;&#27966;\&#32232;&#20462;&#22294;&#29255;\&#33457;&#33609;&#27966;&#23567;&#35519;(&#24555;).MP3" TargetMode="Externa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7.wav"/><Relationship Id="rId1" Type="http://schemas.openxmlformats.org/officeDocument/2006/relationships/tags" Target="../tags/tag6.xml"/><Relationship Id="rId5" Type="http://schemas.openxmlformats.org/officeDocument/2006/relationships/image" Target="../media/image7.pn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8.wav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9.wav"/><Relationship Id="rId7" Type="http://schemas.openxmlformats.org/officeDocument/2006/relationships/image" Target="../media/image7.png"/><Relationship Id="rId2" Type="http://schemas.openxmlformats.org/officeDocument/2006/relationships/audio" Target="file:///D:\&#33457;&#33609;&#27966;\&#32232;&#20462;&#22294;&#29255;\&#33457;&#33609;&#27966;.MP3" TargetMode="External"/><Relationship Id="rId1" Type="http://schemas.openxmlformats.org/officeDocument/2006/relationships/tags" Target="../tags/tag8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0.wav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1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2195736" y="3789040"/>
            <a:ext cx="56166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 smtClean="0">
                <a:solidFill>
                  <a:schemeClr val="bg1"/>
                </a:solidFill>
                <a:latin typeface="華康POP1體W7(P)" pitchFamily="2" charset="-120"/>
                <a:ea typeface="華康POP1體W7(P)" pitchFamily="2" charset="-120"/>
              </a:rPr>
              <a:t>嘉義市社區大學</a:t>
            </a:r>
            <a:r>
              <a:rPr lang="en-US" altLang="zh-TW" sz="3200" b="1" dirty="0" smtClean="0">
                <a:solidFill>
                  <a:schemeClr val="bg1"/>
                </a:solidFill>
                <a:latin typeface="華康POP1體W7(P)" pitchFamily="2" charset="-120"/>
                <a:ea typeface="華康POP1體W7(P)" pitchFamily="2" charset="-120"/>
              </a:rPr>
              <a:t>99</a:t>
            </a:r>
            <a:r>
              <a:rPr lang="zh-TW" altLang="en-US" sz="3200" b="1" dirty="0" smtClean="0">
                <a:solidFill>
                  <a:schemeClr val="bg1"/>
                </a:solidFill>
                <a:latin typeface="華康POP1體W7(P)" pitchFamily="2" charset="-120"/>
                <a:ea typeface="華康POP1體W7(P)" pitchFamily="2" charset="-120"/>
              </a:rPr>
              <a:t>年春季班</a:t>
            </a:r>
            <a:endParaRPr lang="en-US" altLang="zh-TW" sz="3200" b="1" dirty="0" smtClean="0">
              <a:solidFill>
                <a:schemeClr val="bg1"/>
              </a:solidFill>
              <a:latin typeface="華康POP1體W7(P)" pitchFamily="2" charset="-120"/>
              <a:ea typeface="華康POP1體W7(P)" pitchFamily="2" charset="-120"/>
            </a:endParaRPr>
          </a:p>
          <a:p>
            <a:pPr algn="ctr"/>
            <a:r>
              <a:rPr lang="zh-TW" altLang="en-US" sz="3200" b="1" dirty="0" smtClean="0">
                <a:solidFill>
                  <a:schemeClr val="bg1"/>
                </a:solidFill>
                <a:latin typeface="華康POP1體W7(P)" pitchFamily="2" charset="-120"/>
                <a:ea typeface="華康POP1體W7(P)" pitchFamily="2" charset="-120"/>
              </a:rPr>
              <a:t>課程名稱：大家讀繪本</a:t>
            </a:r>
            <a:endParaRPr lang="en-US" altLang="zh-TW" sz="3200" b="1" dirty="0" smtClean="0">
              <a:solidFill>
                <a:schemeClr val="bg1"/>
              </a:solidFill>
              <a:latin typeface="華康POP1體W7(P)" pitchFamily="2" charset="-120"/>
              <a:ea typeface="華康POP1體W7(P)" pitchFamily="2" charset="-120"/>
            </a:endParaRPr>
          </a:p>
          <a:p>
            <a:pPr algn="ctr"/>
            <a:endParaRPr lang="en-US" altLang="zh-TW" sz="3200" b="1" dirty="0" smtClean="0">
              <a:solidFill>
                <a:schemeClr val="bg1"/>
              </a:solidFill>
              <a:latin typeface="華康POP1體W7(P)" pitchFamily="2" charset="-120"/>
              <a:ea typeface="華康POP1體W7(P)" pitchFamily="2" charset="-120"/>
            </a:endParaRPr>
          </a:p>
          <a:p>
            <a:pPr algn="ctr"/>
            <a:r>
              <a:rPr lang="zh-TW" altLang="en-US" sz="3200" b="1" dirty="0" smtClean="0">
                <a:solidFill>
                  <a:schemeClr val="bg1"/>
                </a:solidFill>
                <a:latin typeface="華康POP1體W7(P)" pitchFamily="2" charset="-120"/>
                <a:ea typeface="華康POP1體W7(P)" pitchFamily="2" charset="-120"/>
              </a:rPr>
              <a:t>指導老師：黃美智老師</a:t>
            </a:r>
            <a:endParaRPr lang="zh-TW" altLang="en-US" sz="3200" b="1" dirty="0">
              <a:solidFill>
                <a:schemeClr val="bg1"/>
              </a:solidFill>
              <a:latin typeface="華康POP1體W7(P)" pitchFamily="2" charset="-120"/>
              <a:ea typeface="華康POP1體W7(P)" pitchFamily="2" charset="-120"/>
            </a:endParaRPr>
          </a:p>
        </p:txBody>
      </p:sp>
      <p:pic>
        <p:nvPicPr>
          <p:cNvPr id="10" name="花草派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6" cstate="print"/>
          <a:stretch>
            <a:fillRect/>
          </a:stretch>
        </p:blipFill>
        <p:spPr>
          <a:xfrm>
            <a:off x="251520" y="6553200"/>
            <a:ext cx="304800" cy="3048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539347" y="593467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1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15" name="~PP2393.WAV">
            <a:hlinkClick r:id="" action="ppaction://media"/>
          </p:cNvPr>
          <p:cNvPicPr>
            <a:picLocks noRot="1" noChangeAspect="1"/>
          </p:cNvPicPr>
          <p:nvPr>
            <a:wavAudioFile r:embed="rId2" name="~PP2393.WAV"/>
          </p:nvPr>
        </p:nvPicPr>
        <p:blipFill>
          <a:blip r:embed="rId7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slow" advTm="41309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5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6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7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8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 isNarration="1">
              <p:cMediaNode showWhenStopped="0">
                <p:cTn id="20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899592" y="4725144"/>
            <a:ext cx="7776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媽媽彎腰照顧花草。</a:t>
            </a:r>
          </a:p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玫瑰正在踢球，兩個同學在一旁觀看著。</a:t>
            </a:r>
          </a:p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「小象玫瑰愛踢球，又踢又頂技藝高。」</a:t>
            </a:r>
            <a:endParaRPr lang="zh-TW" altLang="en-US" sz="2800" b="1" dirty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5" name="橢圓形圖說文字 4"/>
          <p:cNvSpPr/>
          <p:nvPr/>
        </p:nvSpPr>
        <p:spPr>
          <a:xfrm>
            <a:off x="827584" y="3068960"/>
            <a:ext cx="1800200" cy="936104"/>
          </a:xfrm>
          <a:prstGeom prst="wedgeEllipseCallout">
            <a:avLst>
              <a:gd name="adj1" fmla="val 52478"/>
              <a:gd name="adj2" fmla="val 60486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玫瑰好厲害！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橢圓形圖說文字 6"/>
          <p:cNvSpPr/>
          <p:nvPr/>
        </p:nvSpPr>
        <p:spPr>
          <a:xfrm>
            <a:off x="2339752" y="1268760"/>
            <a:ext cx="1800200" cy="936104"/>
          </a:xfrm>
          <a:prstGeom prst="wedgeEllipseCallout">
            <a:avLst>
              <a:gd name="adj1" fmla="val 42529"/>
              <a:gd name="adj2" fmla="val 6652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好希望踢得像玫瑰那麼好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52171" y="593467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2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12" name="~PP3938.WAV">
            <a:hlinkClick r:id="" action="ppaction://media"/>
          </p:cNvPr>
          <p:cNvPicPr>
            <a:picLocks noRot="1" noChangeAspect="1"/>
          </p:cNvPicPr>
          <p:nvPr>
            <a:wavAudioFile r:embed="rId2" name="~PP3938.WAV"/>
          </p:nvPr>
        </p:nvPicPr>
        <p:blipFill>
          <a:blip r:embed="rId5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34273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22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/>
      <p:bldP spid="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95536" y="5157192"/>
            <a:ext cx="84969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玫瑰走進教室。</a:t>
            </a:r>
          </a:p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班上來了一位新同學，名叫晶晶。果然人如其名，一出現就吸引許多同學的注意。</a:t>
            </a:r>
          </a:p>
        </p:txBody>
      </p:sp>
      <p:sp>
        <p:nvSpPr>
          <p:cNvPr id="4" name="橢圓形圖說文字 3"/>
          <p:cNvSpPr/>
          <p:nvPr/>
        </p:nvSpPr>
        <p:spPr>
          <a:xfrm>
            <a:off x="539552" y="1772816"/>
            <a:ext cx="1800200" cy="936104"/>
          </a:xfrm>
          <a:prstGeom prst="wedgeEllipseCallout">
            <a:avLst>
              <a:gd name="adj1" fmla="val 42529"/>
              <a:gd name="adj2" fmla="val 6652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妳叫甚麼名字？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5" name="橢圓形圖說文字 4"/>
          <p:cNvSpPr/>
          <p:nvPr/>
        </p:nvSpPr>
        <p:spPr>
          <a:xfrm>
            <a:off x="1403648" y="548680"/>
            <a:ext cx="2016224" cy="936104"/>
          </a:xfrm>
          <a:prstGeom prst="wedgeEllipseCallout">
            <a:avLst>
              <a:gd name="adj1" fmla="val 42529"/>
              <a:gd name="adj2" fmla="val 6652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我叫做晶晶。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9" name="橢圓形圖說文字 8"/>
          <p:cNvSpPr/>
          <p:nvPr/>
        </p:nvSpPr>
        <p:spPr>
          <a:xfrm>
            <a:off x="3131840" y="2996952"/>
            <a:ext cx="2016224" cy="936104"/>
          </a:xfrm>
          <a:prstGeom prst="wedgeEllipseCallout">
            <a:avLst>
              <a:gd name="adj1" fmla="val 42529"/>
              <a:gd name="adj2" fmla="val 6652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妳喜歡玩甚麼遊戲？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6" name="橢圓形圖說文字 15"/>
          <p:cNvSpPr/>
          <p:nvPr/>
        </p:nvSpPr>
        <p:spPr>
          <a:xfrm>
            <a:off x="5148064" y="548680"/>
            <a:ext cx="2232248" cy="1080120"/>
          </a:xfrm>
          <a:prstGeom prst="wedgeEllipseCallout">
            <a:avLst>
              <a:gd name="adj1" fmla="val -62805"/>
              <a:gd name="adj2" fmla="val 3675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我最喜歡溜冰，也很喜歡彈鋼琴喔！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552171" y="593467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3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12" name="~PP2844.WAV">
            <a:hlinkClick r:id="" action="ppaction://media"/>
          </p:cNvPr>
          <p:cNvPicPr>
            <a:picLocks noRot="1" noChangeAspect="1"/>
          </p:cNvPicPr>
          <p:nvPr>
            <a:wavAudioFile r:embed="rId2" name="~PP2844.WAV"/>
          </p:nvPr>
        </p:nvPicPr>
        <p:blipFill>
          <a:blip r:embed="rId5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27516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32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3" grpId="0"/>
      <p:bldP spid="4" grpId="0" animBg="1"/>
      <p:bldP spid="5" grpId="0" animBg="1"/>
      <p:bldP spid="9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1475656" y="4941168"/>
            <a:ext cx="73803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晶晶表演溜冰，同學大表欽佩。</a:t>
            </a:r>
          </a:p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玫瑰望著環繞晶晶的人群，滿心不是滋味。</a:t>
            </a:r>
          </a:p>
        </p:txBody>
      </p:sp>
      <p:sp>
        <p:nvSpPr>
          <p:cNvPr id="5" name="橢圓形圖說文字 4"/>
          <p:cNvSpPr/>
          <p:nvPr/>
        </p:nvSpPr>
        <p:spPr>
          <a:xfrm>
            <a:off x="4860032" y="188640"/>
            <a:ext cx="2232248" cy="1080120"/>
          </a:xfrm>
          <a:prstGeom prst="wedgeEllipseCallout">
            <a:avLst>
              <a:gd name="adj1" fmla="val 56033"/>
              <a:gd name="adj2" fmla="val 190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晶晶溜得真不錯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8" name="橢圓形圖說文字 7"/>
          <p:cNvSpPr/>
          <p:nvPr/>
        </p:nvSpPr>
        <p:spPr>
          <a:xfrm>
            <a:off x="1691680" y="2780928"/>
            <a:ext cx="2232248" cy="1080120"/>
          </a:xfrm>
          <a:prstGeom prst="wedgeEllipseCallout">
            <a:avLst>
              <a:gd name="adj1" fmla="val -27694"/>
              <a:gd name="adj2" fmla="val 11211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晶晶好厲害。教教我好不好？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52171" y="593467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4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11" name="~PP111.WAV">
            <a:hlinkClick r:id="" action="ppaction://media"/>
          </p:cNvPr>
          <p:cNvPicPr>
            <a:picLocks noRot="1" noChangeAspect="1"/>
          </p:cNvPicPr>
          <p:nvPr>
            <a:wavAudioFile r:embed="rId2" name="~PP111.WAV"/>
          </p:nvPr>
        </p:nvPicPr>
        <p:blipFill>
          <a:blip r:embed="rId5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21804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22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4" grpId="0"/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5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467544" y="476672"/>
            <a:ext cx="3528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玫瑰與媽媽在廚房中，一起在作派。</a:t>
            </a:r>
          </a:p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玫瑰向媽媽吐露心事。</a:t>
            </a:r>
            <a:endParaRPr lang="en-US" altLang="zh-TW" sz="28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pic>
        <p:nvPicPr>
          <p:cNvPr id="4" name="孤挺花短.MP3">
            <a:hlinkClick r:id="" action="ppaction://media"/>
          </p:cNvPr>
          <p:cNvPicPr>
            <a:picLocks noRot="1" noChangeAspect="1"/>
          </p:cNvPicPr>
          <p:nvPr>
            <a:audioFile r:link="rId2"/>
          </p:nvPr>
        </p:nvPicPr>
        <p:blipFill>
          <a:blip r:embed="rId6" cstate="print"/>
          <a:stretch>
            <a:fillRect/>
          </a:stretch>
        </p:blipFill>
        <p:spPr>
          <a:xfrm>
            <a:off x="251520" y="6629400"/>
            <a:ext cx="406400" cy="228600"/>
          </a:xfrm>
          <a:prstGeom prst="rect">
            <a:avLst/>
          </a:prstGeom>
        </p:spPr>
      </p:pic>
      <p:sp>
        <p:nvSpPr>
          <p:cNvPr id="5" name="橢圓形圖說文字 4"/>
          <p:cNvSpPr/>
          <p:nvPr/>
        </p:nvSpPr>
        <p:spPr>
          <a:xfrm>
            <a:off x="6444208" y="908720"/>
            <a:ext cx="2232248" cy="1080120"/>
          </a:xfrm>
          <a:prstGeom prst="wedgeEllipseCallout">
            <a:avLst>
              <a:gd name="adj1" fmla="val -14190"/>
              <a:gd name="adj2" fmla="val 7490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媽媽，我們班來了一個新同學。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6" name="橢圓形圖說文字 5"/>
          <p:cNvSpPr/>
          <p:nvPr/>
        </p:nvSpPr>
        <p:spPr>
          <a:xfrm>
            <a:off x="4355976" y="476672"/>
            <a:ext cx="2232248" cy="1080120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真的啊！有新同學很好呀！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8" name="橢圓形圖說文字 7"/>
          <p:cNvSpPr/>
          <p:nvPr/>
        </p:nvSpPr>
        <p:spPr>
          <a:xfrm>
            <a:off x="6732240" y="1124744"/>
            <a:ext cx="2232248" cy="1080120"/>
          </a:xfrm>
          <a:prstGeom prst="wedgeEllipseCallout">
            <a:avLst>
              <a:gd name="adj1" fmla="val -25893"/>
              <a:gd name="adj2" fmla="val 70249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才不好！她很愛現又臭屁！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9" name="橢圓形圖說文字 8"/>
          <p:cNvSpPr/>
          <p:nvPr/>
        </p:nvSpPr>
        <p:spPr>
          <a:xfrm>
            <a:off x="4355976" y="476672"/>
            <a:ext cx="2232248" cy="1080120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怎麼說？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0" name="橢圓形圖說文字 9"/>
          <p:cNvSpPr/>
          <p:nvPr/>
        </p:nvSpPr>
        <p:spPr>
          <a:xfrm>
            <a:off x="4716016" y="332656"/>
            <a:ext cx="4032448" cy="1728192"/>
          </a:xfrm>
          <a:prstGeom prst="wedgeEllipseCallout">
            <a:avLst>
              <a:gd name="adj1" fmla="val 10938"/>
              <a:gd name="adj2" fmla="val 6835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她一副很厲害的樣子，又會溜冰、又會彈琴。只要她一出現，身邊就圍了一大群人，好像一大群蒼蠅，嗡嗡嗡嗡吵死人！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076056" y="3284984"/>
            <a:ext cx="381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玫瑰說著說著嘟起了嘴。</a:t>
            </a:r>
            <a:endParaRPr lang="zh-TW" altLang="en-US" sz="28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52171" y="593467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5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14" name="~PP950.WAV">
            <a:hlinkClick r:id="" action="ppaction://media"/>
          </p:cNvPr>
          <p:cNvPicPr>
            <a:picLocks noRot="1" noChangeAspect="1"/>
          </p:cNvPicPr>
          <p:nvPr>
            <a:wavAudioFile r:embed="rId3" name="~PP950.WAV"/>
          </p:nvPr>
        </p:nvPicPr>
        <p:blipFill>
          <a:blip r:embed="rId7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66317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60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 isNarration="1">
              <p:cMediaNode showWhenStopped="0">
                <p:cTn id="6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3" grpId="0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6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39552" y="487025"/>
            <a:ext cx="36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4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媽媽聽著玫瑰的心事，一面在心中打著主意。</a:t>
            </a:r>
            <a:endParaRPr lang="en-US" altLang="zh-TW" sz="24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pic>
        <p:nvPicPr>
          <p:cNvPr id="5" name="花草派小調(快).MP3">
            <a:hlinkClick r:id="" action="ppaction://media"/>
          </p:cNvPr>
          <p:cNvPicPr>
            <a:picLocks noRot="1" noChangeAspect="1"/>
          </p:cNvPicPr>
          <p:nvPr>
            <a:audioFile r:link="rId2"/>
          </p:nvPr>
        </p:nvPicPr>
        <p:blipFill>
          <a:blip r:embed="rId6" cstate="print"/>
          <a:stretch>
            <a:fillRect/>
          </a:stretch>
        </p:blipFill>
        <p:spPr>
          <a:xfrm>
            <a:off x="4368800" y="3314700"/>
            <a:ext cx="406400" cy="228600"/>
          </a:xfrm>
          <a:prstGeom prst="rect">
            <a:avLst/>
          </a:prstGeom>
        </p:spPr>
      </p:pic>
      <p:sp>
        <p:nvSpPr>
          <p:cNvPr id="6" name="橢圓形圖說文字 5"/>
          <p:cNvSpPr/>
          <p:nvPr/>
        </p:nvSpPr>
        <p:spPr>
          <a:xfrm>
            <a:off x="4499992" y="332656"/>
            <a:ext cx="2232248" cy="1080120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妳真有那麼討厭新同學？」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8" name="橢圓形圖說文字 7"/>
          <p:cNvSpPr/>
          <p:nvPr/>
        </p:nvSpPr>
        <p:spPr>
          <a:xfrm>
            <a:off x="6588224" y="1268760"/>
            <a:ext cx="2555776" cy="1656184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對呀，想到老師還派他代表班上表演才藝，就更令人生氣了。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9" name="橢圓形圖說文字 8"/>
          <p:cNvSpPr/>
          <p:nvPr/>
        </p:nvSpPr>
        <p:spPr>
          <a:xfrm>
            <a:off x="4788024" y="260648"/>
            <a:ext cx="2232248" cy="1080120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表演甚麼才藝呢？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0" name="橢圓形圖說文字 9"/>
          <p:cNvSpPr/>
          <p:nvPr/>
        </p:nvSpPr>
        <p:spPr>
          <a:xfrm>
            <a:off x="6732240" y="1772816"/>
            <a:ext cx="1872208" cy="1152128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彈鋼琴。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1" name="橢圓形圖說文字 10"/>
          <p:cNvSpPr/>
          <p:nvPr/>
        </p:nvSpPr>
        <p:spPr>
          <a:xfrm>
            <a:off x="5004048" y="260648"/>
            <a:ext cx="2232248" cy="1080120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那麼，妳要不要送個派給她？」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2" name="橢圓形圖說文字 11"/>
          <p:cNvSpPr/>
          <p:nvPr/>
        </p:nvSpPr>
        <p:spPr>
          <a:xfrm>
            <a:off x="6732240" y="1988840"/>
            <a:ext cx="2411760" cy="1152128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甚麼？居然還要送派祝賀她？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3" name="橢圓形圖說文字 12"/>
          <p:cNvSpPr/>
          <p:nvPr/>
        </p:nvSpPr>
        <p:spPr>
          <a:xfrm>
            <a:off x="4860032" y="332656"/>
            <a:ext cx="2232248" cy="1080120"/>
          </a:xfrm>
          <a:prstGeom prst="wedgeEllipseCallout">
            <a:avLst>
              <a:gd name="adj1" fmla="val -49751"/>
              <a:gd name="adj2" fmla="val 4978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對呀，送個最最最特別的花</a:t>
            </a:r>
            <a:r>
              <a:rPr lang="en-US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~</a:t>
            </a:r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草</a:t>
            </a:r>
            <a:r>
              <a:rPr lang="en-US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~</a:t>
            </a:r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派</a:t>
            </a:r>
            <a:r>
              <a:rPr lang="en-US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~~</a:t>
            </a:r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」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4" name="雲朵形圖說文字 13"/>
          <p:cNvSpPr/>
          <p:nvPr/>
        </p:nvSpPr>
        <p:spPr>
          <a:xfrm>
            <a:off x="5004048" y="908720"/>
            <a:ext cx="3816424" cy="1872208"/>
          </a:xfrm>
          <a:prstGeom prst="cloudCallout">
            <a:avLst>
              <a:gd name="adj1" fmla="val -18463"/>
              <a:gd name="adj2" fmla="val 7398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一個特別的派，毛毛蟲加進來，小蚱蜢也放進來，就來送一個最噁心、最可怕的花草派！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39552" y="1340768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4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玫瑰的心裡，響起了一個聲音：</a:t>
            </a:r>
            <a:endParaRPr lang="zh-TW" altLang="en-US" sz="24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39552" y="1844824"/>
            <a:ext cx="4752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4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這個想法甚至讓玫瑰開心到嘴角掛了笑。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323528" y="2852936"/>
            <a:ext cx="4680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4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媽媽接著說：「知此知彼，百戰百勝。妳知道</a:t>
            </a:r>
            <a:r>
              <a:rPr lang="zh-TW" altLang="en-US" sz="24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晶晶</a:t>
            </a:r>
            <a:r>
              <a:rPr lang="zh-TW" altLang="zh-TW" sz="24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最喜歡甚麼？最討厭甚麼？妳是不是應該去接近她、了解她，才能送出一個真正令她驚訝的派。」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251520" y="4941168"/>
            <a:ext cx="4752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4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玫瑰聽著、想著，決定好好觀察晶晶。</a:t>
            </a:r>
            <a:endParaRPr lang="zh-TW" altLang="en-US" sz="24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552171" y="593467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6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21" name="~PP655.WAV">
            <a:hlinkClick r:id="" action="ppaction://media"/>
          </p:cNvPr>
          <p:cNvPicPr>
            <a:picLocks noRot="1" noChangeAspect="1"/>
          </p:cNvPicPr>
          <p:nvPr>
            <a:wavAudioFile r:embed="rId3" name="~PP655.WAV"/>
          </p:nvPr>
        </p:nvPicPr>
        <p:blipFill>
          <a:blip r:embed="rId7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110272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20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15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 isNarration="1">
              <p:cMediaNode showWhenStopped="0">
                <p:cTn id="116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3" grpId="0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/>
      <p:bldP spid="15" grpId="1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508104" y="2204864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晶晶教玫瑰溜冰。</a:t>
            </a:r>
          </a:p>
        </p:txBody>
      </p:sp>
      <p:sp>
        <p:nvSpPr>
          <p:cNvPr id="4" name="橢圓形圖說文字 3"/>
          <p:cNvSpPr/>
          <p:nvPr/>
        </p:nvSpPr>
        <p:spPr>
          <a:xfrm>
            <a:off x="4355976" y="188640"/>
            <a:ext cx="2808312" cy="1080120"/>
          </a:xfrm>
          <a:prstGeom prst="wedgeEllipseCallout">
            <a:avLst>
              <a:gd name="adj1" fmla="val 54577"/>
              <a:gd name="adj2" fmla="val 5071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慢慢來，不要怕。我扶著妳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364088" y="2780928"/>
            <a:ext cx="37799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在晶晶耐心的教導與鼓勵下，玫瑰不僅學會溜冰，而且愈溜愈順，愈說愈好。</a:t>
            </a:r>
            <a:endParaRPr lang="zh-TW" altLang="en-US" sz="28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79512" y="1268760"/>
            <a:ext cx="48965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晶晶幫玫瑰撿球</a:t>
            </a:r>
          </a:p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玫瑰與晶晶一起快樂的踢球。突然晶晶用力一踢，球居然落在高高的樹上，被茂密的樹葉給接住。正在想著該如何才能順利把球撿回來時，只見晶晶一探頭就輕易的把球撿回來了。</a:t>
            </a:r>
            <a:endParaRPr lang="en-US" altLang="zh-TW" sz="28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  <a:p>
            <a:endParaRPr lang="zh-TW" altLang="zh-TW" sz="28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玫瑰逐漸發現，晶晶是個很棒的朋友，既體貼又善解人意。他們在一起玩的時間變多了，成了無話不談的好朋友。</a:t>
            </a:r>
            <a:endParaRPr lang="zh-TW" altLang="en-US" sz="28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52171" y="593467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7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10" name="~PP2343.WAV">
            <a:hlinkClick r:id="" action="ppaction://media"/>
          </p:cNvPr>
          <p:cNvPicPr>
            <a:picLocks noRot="1" noChangeAspect="1"/>
          </p:cNvPicPr>
          <p:nvPr>
            <a:wavAudioFile r:embed="rId2" name="~PP2343.WAV"/>
          </p:nvPr>
        </p:nvPicPr>
        <p:blipFill>
          <a:blip r:embed="rId5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58933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2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3" grpId="0"/>
      <p:bldP spid="4" grpId="0" animBg="1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8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436096" y="2764572"/>
            <a:ext cx="33843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大家齊聚一堂，聆聽各班同學的才藝表演。</a:t>
            </a:r>
          </a:p>
          <a:p>
            <a:r>
              <a:rPr lang="zh-TW" altLang="zh-TW" sz="20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玫瑰坐在台下，手中抱著一個禮盒，禮盒裡可是媽媽「精心製作的花草派」。</a:t>
            </a:r>
          </a:p>
          <a:p>
            <a:r>
              <a:rPr lang="zh-TW" altLang="zh-TW" sz="20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玫瑰的心裡七上八下的，她不知道媽媽會在這個派裡面加甚麼料。會是毛毛蟲嗎？會是蚱蜢蟋蟀嗎？如果真的嚇到了晶晶該怎麼辦</a:t>
            </a:r>
            <a:r>
              <a:rPr lang="en-US" altLang="zh-TW" sz="20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??</a:t>
            </a:r>
            <a:endParaRPr lang="zh-TW" altLang="zh-TW" sz="20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  <a:p>
            <a:r>
              <a:rPr lang="zh-TW" altLang="zh-TW" sz="20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當晶晶在台上演奏時，玫瑰不禁在心中禱告了起來，她不知該如何送出這個派。</a:t>
            </a:r>
          </a:p>
        </p:txBody>
      </p:sp>
      <p:sp>
        <p:nvSpPr>
          <p:cNvPr id="4" name="橢圓形圖說文字 3"/>
          <p:cNvSpPr/>
          <p:nvPr/>
        </p:nvSpPr>
        <p:spPr>
          <a:xfrm>
            <a:off x="4788024" y="908720"/>
            <a:ext cx="2304256" cy="1296144"/>
          </a:xfrm>
          <a:prstGeom prst="wedgeEllipseCallout">
            <a:avLst>
              <a:gd name="adj1" fmla="val 44916"/>
              <a:gd name="adj2" fmla="val 86994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晶晶，妳彈得好棒呀！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1560" y="3356992"/>
            <a:ext cx="37444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盒蓋掀開。果然是一個漂亮、豪華的花草派，既沒有毛蟲，也沒有蚱蜢。媽媽做了一個豪華美麗的派，這樣的派最適合與朋友共同分享。</a:t>
            </a:r>
          </a:p>
          <a:p>
            <a:r>
              <a:rPr lang="zh-TW" altLang="zh-TW" sz="20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小象玫瑰心中的大石頭終於落下來了。</a:t>
            </a:r>
            <a:endParaRPr lang="zh-TW" altLang="en-US" sz="20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7" name="橢圓形圖說文字 6"/>
          <p:cNvSpPr/>
          <p:nvPr/>
        </p:nvSpPr>
        <p:spPr>
          <a:xfrm>
            <a:off x="2195736" y="476672"/>
            <a:ext cx="2304256" cy="1080120"/>
          </a:xfrm>
          <a:prstGeom prst="wedgeEllipseCallout">
            <a:avLst>
              <a:gd name="adj1" fmla="val -64573"/>
              <a:gd name="adj2" fmla="val 22803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妳捧著甚麼呀？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8" name="橢圓形圖說文字 7"/>
          <p:cNvSpPr/>
          <p:nvPr/>
        </p:nvSpPr>
        <p:spPr>
          <a:xfrm>
            <a:off x="4716016" y="908720"/>
            <a:ext cx="2808312" cy="1224136"/>
          </a:xfrm>
          <a:prstGeom prst="wedgeEllipseCallout">
            <a:avLst>
              <a:gd name="adj1" fmla="val 20943"/>
              <a:gd name="adj2" fmla="val 8327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沒甚麼啦，是我媽媽特地製作的花草派。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9" name="橢圓形圖說文字 8"/>
          <p:cNvSpPr/>
          <p:nvPr/>
        </p:nvSpPr>
        <p:spPr>
          <a:xfrm>
            <a:off x="2051720" y="476672"/>
            <a:ext cx="2808312" cy="1224136"/>
          </a:xfrm>
          <a:prstGeom prst="wedgeEllipseCallout">
            <a:avLst>
              <a:gd name="adj1" fmla="val -51692"/>
              <a:gd name="adj2" fmla="val 27454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特地做的？一定很棒。我可以看看嗎？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0" name="橢圓形圖說文字 9"/>
          <p:cNvSpPr/>
          <p:nvPr/>
        </p:nvSpPr>
        <p:spPr>
          <a:xfrm>
            <a:off x="4716016" y="980728"/>
            <a:ext cx="3240360" cy="1512168"/>
          </a:xfrm>
          <a:prstGeom prst="wedgeEllipseCallout">
            <a:avLst>
              <a:gd name="adj1" fmla="val 17043"/>
              <a:gd name="adj2" fmla="val 6373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是沒錯啦。可是</a:t>
            </a:r>
            <a:r>
              <a:rPr lang="en-US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……</a:t>
            </a:r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也許再重做一個會比較好。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1" name="橢圓形圖說文字 10"/>
          <p:cNvSpPr/>
          <p:nvPr/>
        </p:nvSpPr>
        <p:spPr>
          <a:xfrm>
            <a:off x="1979712" y="476672"/>
            <a:ext cx="2880320" cy="1296144"/>
          </a:xfrm>
          <a:prstGeom prst="wedgeEllipseCallout">
            <a:avLst>
              <a:gd name="adj1" fmla="val -52765"/>
              <a:gd name="adj2" fmla="val 488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b="1" dirty="0" smtClean="0">
                <a:solidFill>
                  <a:srgbClr val="FF0000"/>
                </a:solidFill>
                <a:latin typeface="華康POP1體W5(P)" pitchFamily="82" charset="-120"/>
                <a:ea typeface="華康POP1體W5(P)" pitchFamily="82" charset="-120"/>
              </a:rPr>
              <a:t>妳在說甚麼呀？還是先打開來看看吧！</a:t>
            </a:r>
            <a:endParaRPr lang="zh-TW" altLang="en-US" b="1" dirty="0" smtClean="0">
              <a:solidFill>
                <a:srgbClr val="FF0000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52171" y="593467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8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14" name="~PP1851.WAV">
            <a:hlinkClick r:id="" action="ppaction://media"/>
          </p:cNvPr>
          <p:cNvPicPr>
            <a:picLocks noRot="1" noChangeAspect="1"/>
          </p:cNvPicPr>
          <p:nvPr>
            <a:wavAudioFile r:embed="rId2" name="~PP1851.WAV"/>
          </p:nvPr>
        </p:nvPicPr>
        <p:blipFill>
          <a:blip r:embed="rId5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97733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4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3" grpId="0"/>
      <p:bldP spid="4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9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115616" y="2924944"/>
            <a:ext cx="73448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800" b="1" dirty="0" smtClean="0">
                <a:solidFill>
                  <a:schemeClr val="bg1"/>
                </a:solidFill>
                <a:latin typeface="華康POP1體W5(P)" pitchFamily="82" charset="-120"/>
                <a:ea typeface="華康POP1體W5(P)" pitchFamily="82" charset="-120"/>
              </a:rPr>
              <a:t>玫瑰很感謝媽媽，不只是因為媽媽為他做了個派。還因為若沒有媽媽的提議，她就沒有機會認識像晶晶這麼好的朋友了。</a:t>
            </a:r>
            <a:endParaRPr lang="zh-TW" altLang="en-US" sz="2800" b="1" dirty="0" smtClean="0">
              <a:solidFill>
                <a:schemeClr val="bg1"/>
              </a:solidFill>
              <a:latin typeface="華康POP1體W5(P)" pitchFamily="82" charset="-120"/>
              <a:ea typeface="華康POP1體W5(P)" pitchFamily="82" charset="-120"/>
            </a:endParaRPr>
          </a:p>
        </p:txBody>
      </p:sp>
      <p:pic>
        <p:nvPicPr>
          <p:cNvPr id="5" name="花草派.MP3">
            <a:hlinkClick r:id="" action="ppaction://media"/>
          </p:cNvPr>
          <p:cNvPicPr>
            <a:picLocks noRot="1" noChangeAspect="1"/>
          </p:cNvPicPr>
          <p:nvPr>
            <a:audioFile r:link="rId2"/>
          </p:nvPr>
        </p:nvPicPr>
        <p:blipFill>
          <a:blip r:embed="rId6" cstate="print"/>
          <a:stretch>
            <a:fillRect/>
          </a:stretch>
        </p:blipFill>
        <p:spPr>
          <a:xfrm>
            <a:off x="0" y="6629400"/>
            <a:ext cx="406400" cy="2286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552171" y="593467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9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9" name="~PP2422.WAV">
            <a:hlinkClick r:id="" action="ppaction://media"/>
          </p:cNvPr>
          <p:cNvPicPr>
            <a:picLocks noRot="1" noChangeAspect="1"/>
          </p:cNvPicPr>
          <p:nvPr>
            <a:wavAudioFile r:embed="rId3" name="~PP2422.WAV"/>
          </p:nvPr>
        </p:nvPicPr>
        <p:blipFill>
          <a:blip r:embed="rId7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41448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4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 isNarration="1">
              <p:cMediaNode showWhenStopped="0">
                <p:cTn id="15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1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4139952" y="2420888"/>
            <a:ext cx="388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 smtClean="0">
                <a:solidFill>
                  <a:schemeClr val="bg1"/>
                </a:solidFill>
                <a:latin typeface="華康POP1體W7(P)" pitchFamily="2" charset="-120"/>
                <a:ea typeface="華康POP1體W7(P)" pitchFamily="2" charset="-120"/>
              </a:rPr>
              <a:t>謝謝觀賞，敬請指教</a:t>
            </a:r>
            <a:endParaRPr lang="en-US" altLang="zh-TW" sz="3200" b="1" dirty="0" smtClean="0">
              <a:solidFill>
                <a:schemeClr val="bg1"/>
              </a:solidFill>
              <a:latin typeface="華康POP1體W7(P)" pitchFamily="2" charset="-120"/>
              <a:ea typeface="華康POP1體W7(P)" pitchFamily="2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67321" y="5934670"/>
            <a:ext cx="9766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10</a:t>
            </a:r>
            <a:endParaRPr lang="zh-TW" alt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10" name="~PP1721.WAV">
            <a:hlinkClick r:id="" action="ppaction://media"/>
          </p:cNvPr>
          <p:cNvPicPr>
            <a:picLocks noRot="1" noChangeAspect="1"/>
          </p:cNvPicPr>
          <p:nvPr>
            <a:wavAudioFile r:embed="rId1" name="~PP1721.WAV"/>
          </p:nvPr>
        </p:nvPicPr>
        <p:blipFill>
          <a:blip r:embed="rId4" cstate="print"/>
          <a:stretch>
            <a:fillRect/>
          </a:stretch>
        </p:blipFill>
        <p:spPr>
          <a:xfrm>
            <a:off x="8670925" y="63849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slow" advTm="15326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3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4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5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6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1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3.5|4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12.3|2.7|2.4|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11.6|3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6|30|4.1|1.9|4.9|0.8|2.5|0.6|14.3|0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7.5|3.9|0.7|7.6|4.2|2.2|3.1|3.8|0.7|4.1|0.9|5.3|0.6|6|2.9|4.9|0.5|15.8|7.8|16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4.8|4.1|10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37.5|4.3|2.6|7.3|6.1|9.5|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撲面">
  <a:themeElements>
    <a:clrScheme name="暗香撲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撲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撲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394</TotalTime>
  <Words>872</Words>
  <Application>Microsoft Office PowerPoint</Application>
  <PresentationFormat>如螢幕大小 (4:3)</PresentationFormat>
  <Paragraphs>72</Paragraphs>
  <Slides>10</Slides>
  <Notes>1</Notes>
  <HiddenSlides>0</HiddenSlides>
  <MMClips>14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暗香撲面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cp:lastModifiedBy>Allan Lo</cp:lastModifiedBy>
  <cp:revision>22</cp:revision>
  <dcterms:modified xsi:type="dcterms:W3CDTF">2010-09-19T12:41:58Z</dcterms:modified>
</cp:coreProperties>
</file>